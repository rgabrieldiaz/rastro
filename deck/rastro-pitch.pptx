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400">
        <a:solidFill>
          <a:schemeClr val="tx1"/>
        </a:solidFill>
        <a:latin typeface="+mn-lt"/>
      </a:defRPr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Soy Giovanny Flores, periodista de datos en Criterio Hidalgo, México, y junto con Gabo les presento Rastro. Es una herramienta que lee contratos públicos y encuentra patrones que merecen una pregunta. Las reglas detectan; yo, como periodista, decido qué se publica.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El dinero de la obra pública municipal es el que está más cerca de la gente, y es el que menos se ve. ComprasMX cubre a la federación, no a los municipios. Lo que hay son PDF sueltos en portales de transparencia, y cruzarlos a mano es un trabajo que casi nadie puede hacer.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Esto lo viví yo. Revisé 22 contratos de un municipio, uno por uno, y me llevó semanas. Vi a los mismos tres licitantes compitiendo una y otra vez, y a algunos con el mismo domicilio fiscal; Rastro es la herramienta que me hubiera gustado tener.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Rastro trabaja en cuatro etapas. El Lector convierte los PDF en una tabla y guarda de qué archivo y de qué página salió cada dato; el Cruzador aplica reglas fijas, sin IA. En la Puerta humana yo reviso cada bandera con su evidencia, y el Narrador solo escribe con lo que aprobé.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Las banderas salen de siete reglas basadas en la guía de banderas rojas de Open Contracting Partnership. Son públicas: cualquiera puede ver por qué se encendió una bandera. La IA lee y redacta, las reglas detectan y el humano decide; la IA no acusa a nadie.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Para el prototipo exploramos 107.441 contrataciones de la Ciudad de Buenos Aires en OpenARG y armamos casos ilustrativos y anonimizados; ahora les muestro el prototipo en vivo. [Cambiar a la app.] En Hidalgo los contratos municipales están en PDF: ese es justamente el problema que Rastro resuelve, y la Plataforma Nacional de Transparencia es nuestra siguiente fuente.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Este es el radar de indicios. Cada caso llega como una ficha con su código, la regla que lo disparó, el organismo y la fuente oficial. La barra de señal es ilustrativa, y los casos están anonimizados: un indicio no es una acusación.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Esta es la puerta humana. Por cada indicio yo decido: aprobar, descartar o dejarlo pendiente, con una nota. Si no lo apruebo, el copiloto se bloquea y no redacta nada publicable; si lo apruebo, prepara la ficha con mi nota y el paso de derecho de réplica, o una solicitud de acceso a la información.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Una bandera es un indicio con evidencia y fuente, nunca una acusación. Las reglas son públicas, las empresas van anonimizadas en las demos y los datos de personas físicas se ocultan. Los contratos vienen solo de fuentes oficiales, queda registro de quién aprobó cada hallazgo y las fichas se escriben solo después de verificar.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Rastro es abierto, gratuito y de código abierto. Consultar es libre; verificar es para periodistas, OSC y comunidad acreditada; y el nivel institucional, con monitoreo, alertas y API, es de pago. Pagan consultoras de cumplimiento, medios y OSC con equipos de datos, fundaciones y órganos de control, y hay membresías para adoptar un municipio; no aceptamos dinero de municipios que monitoreamos ni de partidos.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Hoy tenemos un prototipo con datos de la Ciudad de Buenos Aires y la puerta humana funcionando. En 30 días queremos medir el lector contra los 22 contratos que revisé a mano, arrancar con un municipio piloto y sumar asesoría legal; en tres meses, de 3 a 5 municipios de Hidalgo vía la Plataforma Nacional de Transparencia, con medios aliados como verificadores y las primeras fichas publicadas con réplica. En 6 a 12 meses, más estados, alertas y API. Gracias; el código está en el enlace.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Estas son las preguntas que esperamos del jurado. Si una bandera es falsa, la descarto en la puerta humana y no se publica. Usamos reglas y no IA porque una regla se puede explicar y auditar, y la lectura de PDF la vamos a medir contra los 22 contratos que revisé a mano.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s-MX" sz="1400" dirty="0"/>
              <a:t>Sobre lo que construimos hoy, quiero ser claro: el prototipo corre en vivo con datos de compras de la Ciudad de Buenos Aires, pero los casos que mostramos son ilustrativos y anonimizados, y todavía no lee PDF. Para evitar el uso malicioso, solo usamos fuentes oficiales y nada sale sin verificación. Y pagan quienes usan el nivel institucional, nunca municipios monitoreados ni partidos.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rent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/>
      </a:lvl1pPr>
    </p:titleStyle>
    <p:bodyStyle>
      <a:lvl1pPr>
        <a:defRPr/>
      </a:lvl1pPr>
    </p:bodyStyle>
    <p:otherStyle>
      <a:lvl1pPr>
        <a:defRPr/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ot-armedia1-rastro.pages.dev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ot-armedia1-rastro.pages.dev" TargetMode="External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ot-armedia1-rastro.pages.dev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50292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MEDIA PARTY BUENOS AIRES 2026  ·  STORYTELLING EN LA ERA DE LOS AGENTES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86868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92811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1417320"/>
            <a:ext cx="11091672" cy="1920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Rastro</a:t>
            </a:r>
          </a:p>
        </p:txBody>
      </p:sp>
      <p:sp>
        <p:nvSpPr>
          <p:cNvPr id="6" name="Bajada 6"/>
          <p:cNvSpPr txBox="1"/>
          <p:nvPr/>
        </p:nvSpPr>
        <p:spPr>
          <a:xfrm>
            <a:off x="548640" y="361188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s-MX" sz="30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Encuentra patrones en los contratos públicos, del municipio a la gran ciudad.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Las reglas detectan; un periodista decide.</a:t>
            </a:r>
          </a:p>
        </p:txBody>
      </p:sp>
      <p:cxnSp>
        <p:nvCxnSpPr>
          <p:cNvPr id="7" name="Filete 7"/>
          <p:cNvCxnSpPr/>
          <p:nvPr/>
        </p:nvCxnSpPr>
        <p:spPr>
          <a:xfrm>
            <a:off x="548640" y="5715000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8" name="Link 8"/>
          <p:cNvSpPr txBox="1"/>
          <p:nvPr/>
        </p:nvSpPr>
        <p:spPr>
          <a:xfrm>
            <a:off x="548640" y="58521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dirty="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  <a:hlinkClick r:id="rId3"/>
              </a:rPr>
              <a:t>github.com/rgabrieldiaz/rastro</a:t>
            </a:r>
          </a:p>
        </p:txBody>
      </p:sp>
      <p:sp>
        <p:nvSpPr>
          <p:cNvPr id="9" name="Equipo 9"/>
          <p:cNvSpPr txBox="1"/>
          <p:nvPr/>
        </p:nvSpPr>
        <p:spPr>
          <a:xfrm>
            <a:off x="7071055" y="5852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EL PROBLEMA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Los contratos municipales no están en datos abiertos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02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2057400"/>
            <a:ext cx="11094415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0" name="Etiqueta 10"/>
          <p:cNvSpPr txBox="1"/>
          <p:nvPr/>
        </p:nvSpPr>
        <p:spPr>
          <a:xfrm>
            <a:off x="548640" y="2258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01  DATOS ABIERTOS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3474720" y="2203704"/>
            <a:ext cx="8165592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En México, los contratos de obra pública municipal no se publican como datos abiertos.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3" name="Etiqueta 13"/>
          <p:cNvSpPr txBox="1"/>
          <p:nvPr/>
        </p:nvSpPr>
        <p:spPr>
          <a:xfrm>
            <a:off x="548640" y="344728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02  COMPRASMX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3474720" y="3392424"/>
            <a:ext cx="8165592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ComprasMX, la plataforma federal de compras, no cubre a los municipios.</a:t>
            </a:r>
          </a:p>
        </p:txBody>
      </p:sp>
      <p:cxnSp>
        <p:nvCxnSpPr>
          <p:cNvPr id="15" name="Filete 15"/>
          <p:cNvCxnSpPr/>
          <p:nvPr/>
        </p:nvCxnSpPr>
        <p:spPr>
          <a:xfrm>
            <a:off x="548640" y="443484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6" name="Etiqueta 16"/>
          <p:cNvSpPr txBox="1"/>
          <p:nvPr/>
        </p:nvSpPr>
        <p:spPr>
          <a:xfrm>
            <a:off x="548640" y="46360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03  PORTALES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3474720" y="4581144"/>
            <a:ext cx="8165592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Hay PDF dispersos en portales de transparencia </a:t>
            </a: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que casi nadie cruza.</a:t>
            </a:r>
          </a:p>
        </p:txBody>
      </p:sp>
      <p:cxnSp>
        <p:nvCxnSpPr>
          <p:cNvPr id="18" name="Filete 18"/>
          <p:cNvCxnSpPr/>
          <p:nvPr/>
        </p:nvCxnSpPr>
        <p:spPr>
          <a:xfrm>
            <a:off x="548640" y="562356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EL ORIGEN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Así empezó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03 / 11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548640" y="1783080"/>
            <a:ext cx="338328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22</a:t>
            </a:r>
          </a:p>
        </p:txBody>
      </p:sp>
      <p:sp>
        <p:nvSpPr>
          <p:cNvPr id="10" name="Etiqueta 10"/>
          <p:cNvSpPr txBox="1"/>
          <p:nvPr/>
        </p:nvSpPr>
        <p:spPr>
          <a:xfrm>
            <a:off x="548640" y="36118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CONTRATOS REVISADOS A MANO</a:t>
            </a:r>
          </a:p>
        </p:txBody>
      </p:sp>
      <p:cxnSp>
        <p:nvCxnSpPr>
          <p:cNvPr id="11" name="Filete 11"/>
          <p:cNvCxnSpPr/>
          <p:nvPr/>
        </p:nvCxnSpPr>
        <p:spPr>
          <a:xfrm>
            <a:off x="548640" y="4160520"/>
            <a:ext cx="32004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2" name="Texto 12"/>
          <p:cNvSpPr txBox="1"/>
          <p:nvPr/>
        </p:nvSpPr>
        <p:spPr>
          <a:xfrm>
            <a:off x="548640" y="4251960"/>
            <a:ext cx="3383280" cy="1005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3</a:t>
            </a:r>
          </a:p>
        </p:txBody>
      </p:sp>
      <p:sp>
        <p:nvSpPr>
          <p:cNvPr id="13" name="Etiqueta 13"/>
          <p:cNvSpPr txBox="1"/>
          <p:nvPr/>
        </p:nvSpPr>
        <p:spPr>
          <a:xfrm>
            <a:off x="548640" y="5257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LICITANTES QUE SE REPETÍAN</a:t>
            </a:r>
          </a:p>
        </p:txBody>
      </p:sp>
      <p:cxnSp>
        <p:nvCxnSpPr>
          <p:cNvPr id="14" name="Filete 14"/>
          <p:cNvCxnSpPr/>
          <p:nvPr/>
        </p:nvCxnSpPr>
        <p:spPr>
          <a:xfrm>
            <a:off x="4114800" y="2011680"/>
            <a:ext cx="0" cy="393192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5" name="Texto 15"/>
          <p:cNvSpPr txBox="1"/>
          <p:nvPr/>
        </p:nvSpPr>
        <p:spPr>
          <a:xfrm>
            <a:off x="4526280" y="2011680"/>
            <a:ext cx="7114032" cy="301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«Revisé 22 contratos de un municipio a mano. Me llevó semanas. Encontré a los mismos tres licitantes compitiendo una y otra vez, algunos con </a:t>
            </a:r>
            <a:r>
              <a:rPr lang="es-MX" sz="28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el mismo domicilio fiscal</a:t>
            </a:r>
            <a:r>
              <a:rPr lang="es-MX" sz="2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.»</a:t>
            </a:r>
          </a:p>
        </p:txBody>
      </p:sp>
      <p:sp>
        <p:nvSpPr>
          <p:cNvPr id="16" name="Etiqueta 16"/>
          <p:cNvSpPr txBox="1"/>
          <p:nvPr/>
        </p:nvSpPr>
        <p:spPr>
          <a:xfrm>
            <a:off x="4526280" y="5257800"/>
            <a:ext cx="711403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PERIODISTA DE DATOS, CRITERIO HIDALGO (MÉXICO)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CÓMO FUNCIONA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Cuatro etapas, y una persona en el medio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04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205740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0" name="Texto 10"/>
          <p:cNvSpPr txBox="1"/>
          <p:nvPr/>
        </p:nvSpPr>
        <p:spPr>
          <a:xfrm>
            <a:off x="548640" y="2240280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548640" y="2606040"/>
            <a:ext cx="2499284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Lector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548640" y="3246120"/>
            <a:ext cx="2499284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Convierte PDF o Excel en una tabla. Cada dato guarda su archivo y su página de origen.</a:t>
            </a:r>
          </a:p>
        </p:txBody>
      </p:sp>
      <p:cxnSp>
        <p:nvCxnSpPr>
          <p:cNvPr id="13" name="Filete 13"/>
          <p:cNvCxnSpPr/>
          <p:nvPr/>
        </p:nvCxnSpPr>
        <p:spPr>
          <a:xfrm>
            <a:off x="548640" y="5349240"/>
            <a:ext cx="24992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4" name="Etiqueta 14"/>
          <p:cNvSpPr txBox="1"/>
          <p:nvPr/>
        </p:nvSpPr>
        <p:spPr>
          <a:xfrm>
            <a:off x="548640" y="5468112"/>
            <a:ext cx="2499284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SALE: TABLA CON FUENTE</a:t>
            </a:r>
          </a:p>
        </p:txBody>
      </p:sp>
      <p:cxnSp>
        <p:nvCxnSpPr>
          <p:cNvPr id="15" name="Filete 15"/>
          <p:cNvCxnSpPr/>
          <p:nvPr/>
        </p:nvCxnSpPr>
        <p:spPr>
          <a:xfrm>
            <a:off x="3413684" y="205740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6" name="Texto 16"/>
          <p:cNvSpPr txBox="1"/>
          <p:nvPr/>
        </p:nvSpPr>
        <p:spPr>
          <a:xfrm>
            <a:off x="3413684" y="2240280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3413684" y="2606040"/>
            <a:ext cx="2499284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Cruzador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3413684" y="3246120"/>
            <a:ext cx="2499284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Aplica reglas fijas y auditables. Sin IA.</a:t>
            </a:r>
          </a:p>
        </p:txBody>
      </p:sp>
      <p:cxnSp>
        <p:nvCxnSpPr>
          <p:cNvPr id="19" name="Filete 19"/>
          <p:cNvCxnSpPr/>
          <p:nvPr/>
        </p:nvCxnSpPr>
        <p:spPr>
          <a:xfrm>
            <a:off x="3413684" y="5349240"/>
            <a:ext cx="24992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0" name="Etiqueta 20"/>
          <p:cNvSpPr txBox="1"/>
          <p:nvPr/>
        </p:nvSpPr>
        <p:spPr>
          <a:xfrm>
            <a:off x="3413684" y="5468112"/>
            <a:ext cx="2499284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SALE: BANDERAS</a:t>
            </a:r>
          </a:p>
        </p:txBody>
      </p:sp>
      <p:cxnSp>
        <p:nvCxnSpPr>
          <p:cNvPr id="21" name="Filete 21"/>
          <p:cNvCxnSpPr/>
          <p:nvPr/>
        </p:nvCxnSpPr>
        <p:spPr>
          <a:xfrm>
            <a:off x="6278728" y="2057400"/>
            <a:ext cx="2499284" cy="0"/>
          </a:xfrm>
          <a:prstGeom prst="line">
            <a:avLst/>
          </a:prstGeom>
          <a:ln w="38100" cap="flat">
            <a:solidFill>
              <a:srgbClr val="C8230C"/>
            </a:solidFill>
          </a:ln>
        </p:spPr>
      </p:cxnSp>
      <p:sp>
        <p:nvSpPr>
          <p:cNvPr id="22" name="Texto 22"/>
          <p:cNvSpPr txBox="1"/>
          <p:nvPr/>
        </p:nvSpPr>
        <p:spPr>
          <a:xfrm>
            <a:off x="6278728" y="2240280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 i="0" dirty="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6278728" y="2606040"/>
            <a:ext cx="2499284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Puerta humana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6278728" y="3246120"/>
            <a:ext cx="2499284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Cada bandera llega con su evidencia. El periodista aprueba, descarta o deja pendiente.</a:t>
            </a:r>
          </a:p>
        </p:txBody>
      </p:sp>
      <p:cxnSp>
        <p:nvCxnSpPr>
          <p:cNvPr id="25" name="Filete 25"/>
          <p:cNvCxnSpPr/>
          <p:nvPr/>
        </p:nvCxnSpPr>
        <p:spPr>
          <a:xfrm>
            <a:off x="6278728" y="5349240"/>
            <a:ext cx="24992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6" name="Etiqueta 26"/>
          <p:cNvSpPr txBox="1"/>
          <p:nvPr/>
        </p:nvSpPr>
        <p:spPr>
          <a:xfrm>
            <a:off x="6278728" y="5468112"/>
            <a:ext cx="2499284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SALE: HALLAZGOS APROBADOS</a:t>
            </a:r>
          </a:p>
        </p:txBody>
      </p:sp>
      <p:cxnSp>
        <p:nvCxnSpPr>
          <p:cNvPr id="27" name="Filete 27"/>
          <p:cNvCxnSpPr/>
          <p:nvPr/>
        </p:nvCxnSpPr>
        <p:spPr>
          <a:xfrm>
            <a:off x="9143771" y="205740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28" name="Texto 28"/>
          <p:cNvSpPr txBox="1"/>
          <p:nvPr/>
        </p:nvSpPr>
        <p:spPr>
          <a:xfrm>
            <a:off x="9143771" y="2240280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00" b="1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9" name="Texto 29"/>
          <p:cNvSpPr txBox="1"/>
          <p:nvPr/>
        </p:nvSpPr>
        <p:spPr>
          <a:xfrm>
            <a:off x="9143771" y="2606040"/>
            <a:ext cx="2499284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Narrador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9143771" y="3246120"/>
            <a:ext cx="2499284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Trabaja solo con lo aprobado: ficha, entrada y preguntas de réplica y de transparencia.</a:t>
            </a:r>
          </a:p>
        </p:txBody>
      </p:sp>
      <p:cxnSp>
        <p:nvCxnSpPr>
          <p:cNvPr id="31" name="Filete 31"/>
          <p:cNvCxnSpPr/>
          <p:nvPr/>
        </p:nvCxnSpPr>
        <p:spPr>
          <a:xfrm>
            <a:off x="9143771" y="5349240"/>
            <a:ext cx="24992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32" name="Etiqueta 32"/>
          <p:cNvSpPr txBox="1"/>
          <p:nvPr/>
        </p:nvSpPr>
        <p:spPr>
          <a:xfrm>
            <a:off x="9143771" y="5468112"/>
            <a:ext cx="2499284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SALE: FICHA Y PREGUNTAS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LAS REGLAS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Siete reglas públicas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05 / 11</a:t>
            </a:r>
          </a:p>
        </p:txBody>
      </p:sp>
      <p:sp>
        <p:nvSpPr>
          <p:cNvPr id="9" name="Etiqueta 9"/>
          <p:cNvSpPr txBox="1"/>
          <p:nvPr/>
        </p:nvSpPr>
        <p:spPr>
          <a:xfrm>
            <a:off x="548640" y="15361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BASADAS EN LA GUÍA DE BANDERAS ROJAS DE OPEN CONTRACTING PARTNERSHIP</a:t>
            </a:r>
          </a:p>
        </p:txBody>
      </p:sp>
      <p:cxnSp>
        <p:nvCxnSpPr>
          <p:cNvPr id="10" name="Filete 10"/>
          <p:cNvCxnSpPr/>
          <p:nvPr/>
        </p:nvCxnSpPr>
        <p:spPr>
          <a:xfrm>
            <a:off x="548640" y="2103120"/>
            <a:ext cx="6400800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1" name="Texto 11"/>
          <p:cNvSpPr txBox="1"/>
          <p:nvPr/>
        </p:nvSpPr>
        <p:spPr>
          <a:xfrm>
            <a:off x="548640" y="222199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R1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1280160" y="220370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Trío recurrente de licitantes</a:t>
            </a:r>
          </a:p>
        </p:txBody>
      </p:sp>
      <p:cxnSp>
        <p:nvCxnSpPr>
          <p:cNvPr id="13" name="Filete 13"/>
          <p:cNvCxnSpPr/>
          <p:nvPr/>
        </p:nvCxnSpPr>
        <p:spPr>
          <a:xfrm>
            <a:off x="548640" y="2615184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4" name="Texto 14"/>
          <p:cNvSpPr txBox="1"/>
          <p:nvPr/>
        </p:nvSpPr>
        <p:spPr>
          <a:xfrm>
            <a:off x="548640" y="2734056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R2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1280160" y="271576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Domicilio fiscal compartido</a:t>
            </a:r>
          </a:p>
        </p:txBody>
      </p:sp>
      <p:cxnSp>
        <p:nvCxnSpPr>
          <p:cNvPr id="16" name="Filete 16"/>
          <p:cNvCxnSpPr/>
          <p:nvPr/>
        </p:nvCxnSpPr>
        <p:spPr>
          <a:xfrm>
            <a:off x="548640" y="3127248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7" name="Texto 17"/>
          <p:cNvSpPr txBox="1"/>
          <p:nvPr/>
        </p:nvSpPr>
        <p:spPr>
          <a:xfrm>
            <a:off x="548640" y="3246120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R3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1280160" y="3227832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Propuestas espejo (menos de 3 % de diferencia)</a:t>
            </a:r>
          </a:p>
        </p:txBody>
      </p:sp>
      <p:cxnSp>
        <p:nvCxnSpPr>
          <p:cNvPr id="19" name="Filete 19"/>
          <p:cNvCxnSpPr/>
          <p:nvPr/>
        </p:nvCxnSpPr>
        <p:spPr>
          <a:xfrm>
            <a:off x="548640" y="3639312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0" name="Texto 20"/>
          <p:cNvSpPr txBox="1"/>
          <p:nvPr/>
        </p:nvSpPr>
        <p:spPr>
          <a:xfrm>
            <a:off x="548640" y="3758184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R4</a:t>
            </a:r>
          </a:p>
        </p:txBody>
      </p:sp>
      <p:sp>
        <p:nvSpPr>
          <p:cNvPr id="21" name="Texto 21"/>
          <p:cNvSpPr txBox="1"/>
          <p:nvPr/>
        </p:nvSpPr>
        <p:spPr>
          <a:xfrm>
            <a:off x="1280160" y="3739896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Ganador rotativo</a:t>
            </a:r>
          </a:p>
        </p:txBody>
      </p:sp>
      <p:cxnSp>
        <p:nvCxnSpPr>
          <p:cNvPr id="22" name="Filete 22"/>
          <p:cNvCxnSpPr/>
          <p:nvPr/>
        </p:nvCxnSpPr>
        <p:spPr>
          <a:xfrm>
            <a:off x="548640" y="4151376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3" name="Texto 23"/>
          <p:cNvSpPr txBox="1"/>
          <p:nvPr/>
        </p:nvSpPr>
        <p:spPr>
          <a:xfrm>
            <a:off x="548640" y="4270248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R5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1280160" y="42519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Posible fraccionamiento</a:t>
            </a:r>
          </a:p>
        </p:txBody>
      </p:sp>
      <p:cxnSp>
        <p:nvCxnSpPr>
          <p:cNvPr id="25" name="Filete 25"/>
          <p:cNvCxnSpPr/>
          <p:nvPr/>
        </p:nvCxnSpPr>
        <p:spPr>
          <a:xfrm>
            <a:off x="548640" y="4663440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6" name="Texto 26"/>
          <p:cNvSpPr txBox="1"/>
          <p:nvPr/>
        </p:nvSpPr>
        <p:spPr>
          <a:xfrm>
            <a:off x="548640" y="4782312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R6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1280160" y="4764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Documentación faltante</a:t>
            </a:r>
          </a:p>
        </p:txBody>
      </p:sp>
      <p:cxnSp>
        <p:nvCxnSpPr>
          <p:cNvPr id="28" name="Filete 28"/>
          <p:cNvCxnSpPr/>
          <p:nvPr/>
        </p:nvCxnSpPr>
        <p:spPr>
          <a:xfrm>
            <a:off x="548640" y="5175504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9" name="Texto 29"/>
          <p:cNvSpPr txBox="1"/>
          <p:nvPr/>
        </p:nvSpPr>
        <p:spPr>
          <a:xfrm>
            <a:off x="548640" y="5294376"/>
            <a:ext cx="6858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b="1" i="0" dirty="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R7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1280160" y="5276088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Plazo corto entre convocatoria y apertura</a:t>
            </a:r>
          </a:p>
        </p:txBody>
      </p:sp>
      <p:cxnSp>
        <p:nvCxnSpPr>
          <p:cNvPr id="31" name="Filete 31"/>
          <p:cNvCxnSpPr/>
          <p:nvPr/>
        </p:nvCxnSpPr>
        <p:spPr>
          <a:xfrm>
            <a:off x="548640" y="5687568"/>
            <a:ext cx="6400800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cxnSp>
        <p:nvCxnSpPr>
          <p:cNvPr id="32" name="Filete 32"/>
          <p:cNvCxnSpPr/>
          <p:nvPr/>
        </p:nvCxnSpPr>
        <p:spPr>
          <a:xfrm>
            <a:off x="7360920" y="2103120"/>
            <a:ext cx="0" cy="3584448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33" name="Etiqueta 33"/>
          <p:cNvSpPr txBox="1"/>
          <p:nvPr/>
        </p:nvSpPr>
        <p:spPr>
          <a:xfrm>
            <a:off x="7772400" y="21031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EL PRINCIPIO</a:t>
            </a:r>
          </a:p>
        </p:txBody>
      </p:sp>
      <p:sp>
        <p:nvSpPr>
          <p:cNvPr id="34" name="Texto 34"/>
          <p:cNvSpPr txBox="1"/>
          <p:nvPr/>
        </p:nvSpPr>
        <p:spPr>
          <a:xfrm>
            <a:off x="7772400" y="2514600"/>
            <a:ext cx="3867912" cy="3108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La IA lee y redacta.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Las reglas detectan.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El humano decide.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La IA no acusa a nadie.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PRUEBA DEL MÉTODO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El método, frente a datos reales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06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2103120"/>
            <a:ext cx="5303520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0" name="Etiqueta 10"/>
          <p:cNvSpPr txBox="1"/>
          <p:nvPr/>
        </p:nvSpPr>
        <p:spPr>
          <a:xfrm>
            <a:off x="548640" y="22402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CIUDAD DE BUENOS AIRES · DATOS ABIERTOS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548640" y="2697480"/>
            <a:ext cx="530352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Exploramos 107.441 contrataciones de la Ciudad de Buenos Aires en OpenARG y montamos el prototipo con casos ilustrativos y anonimizados.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6336792" y="2103120"/>
            <a:ext cx="5303520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3" name="Etiqueta 13"/>
          <p:cNvSpPr txBox="1"/>
          <p:nvPr/>
        </p:nvSpPr>
        <p:spPr>
          <a:xfrm>
            <a:off x="6336792" y="22402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HIDALGO · EN PDF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6336792" y="2697480"/>
            <a:ext cx="530352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En Hidalgo, los contratos municipales están en PDF. La Plataforma Nacional de Transparencia es la siguiente fuente.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Ese es justamente el problema que Rastro resuelve.</a:t>
            </a:r>
          </a:p>
        </p:txBody>
      </p:sp>
      <p:cxnSp>
        <p:nvCxnSpPr>
          <p:cNvPr id="15" name="Filete 15"/>
          <p:cNvCxnSpPr/>
          <p:nvPr/>
        </p:nvCxnSpPr>
        <p:spPr>
          <a:xfrm>
            <a:off x="548640" y="534924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6" name="Etiqueta 16"/>
          <p:cNvSpPr txBox="1"/>
          <p:nvPr/>
        </p:nvSpPr>
        <p:spPr>
          <a:xfrm>
            <a:off x="548640" y="546811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A CONTINUACIÓN: EL PROTOTIPO EN VIVO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DEMO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Radar de indicios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07 / 11</a:t>
            </a:r>
          </a:p>
        </p:txBody>
      </p:sp>
      <p:pic>
        <p:nvPicPr>
          <p:cNvPr id="9" name="Captura 9" descr="Portada de la demo de Rastro con filtros por entidad federativa, sujeto obligado, ejercicio fiscal y contratos"/>
          <p:cNvPicPr>
            <a:picLocks noChangeAspect="1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>
            <a:off x="548640" y="1828800"/>
            <a:ext cx="7223760" cy="4063594"/>
          </a:xfrm>
          <a:prstGeom prst="rect">
            <a:avLst/>
          </a:prstGeom>
          <a:ln w="9525">
            <a:solidFill>
              <a:srgbClr val="B9B3A6"/>
            </a:solidFill>
          </a:ln>
        </p:spPr>
      </p:pic>
      <p:sp>
        <p:nvSpPr>
          <p:cNvPr id="10" name="Texto 10"/>
          <p:cNvSpPr txBox="1"/>
          <p:nvPr/>
        </p:nvSpPr>
        <p:spPr>
          <a:xfrm>
            <a:off x="8138160" y="1828800"/>
            <a:ext cx="3502152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Cada indicio llega como una ficha con su regla y su fuente.</a:t>
            </a:r>
          </a:p>
        </p:txBody>
      </p:sp>
      <p:sp>
        <p:nvSpPr>
          <p:cNvPr id="11" name="Etiqueta 11"/>
          <p:cNvSpPr txBox="1"/>
          <p:nvPr/>
        </p:nvSpPr>
        <p:spPr>
          <a:xfrm>
            <a:off x="8138160" y="3017520"/>
            <a:ext cx="350215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QUÉ MUESTRA CADA FICHA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8138160" y="3520440"/>
            <a:ext cx="350489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13" name="Texto 13"/>
          <p:cNvSpPr txBox="1"/>
          <p:nvPr/>
        </p:nvSpPr>
        <p:spPr>
          <a:xfrm>
            <a:off x="8138160" y="3593592"/>
            <a:ext cx="3502152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Código del caso</a:t>
            </a:r>
          </a:p>
        </p:txBody>
      </p:sp>
      <p:cxnSp>
        <p:nvCxnSpPr>
          <p:cNvPr id="14" name="Filete 14"/>
          <p:cNvCxnSpPr/>
          <p:nvPr/>
        </p:nvCxnSpPr>
        <p:spPr>
          <a:xfrm>
            <a:off x="8138160" y="3904488"/>
            <a:ext cx="350489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5" name="Texto 15"/>
          <p:cNvSpPr txBox="1"/>
          <p:nvPr/>
        </p:nvSpPr>
        <p:spPr>
          <a:xfrm>
            <a:off x="8138160" y="3977640"/>
            <a:ext cx="3502152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Regla que lo disparó</a:t>
            </a:r>
          </a:p>
        </p:txBody>
      </p:sp>
      <p:cxnSp>
        <p:nvCxnSpPr>
          <p:cNvPr id="16" name="Filete 16"/>
          <p:cNvCxnSpPr/>
          <p:nvPr/>
        </p:nvCxnSpPr>
        <p:spPr>
          <a:xfrm>
            <a:off x="8138160" y="4288536"/>
            <a:ext cx="350489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7" name="Texto 17"/>
          <p:cNvSpPr txBox="1"/>
          <p:nvPr/>
        </p:nvSpPr>
        <p:spPr>
          <a:xfrm>
            <a:off x="8138160" y="4361688"/>
            <a:ext cx="3502152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Organismo y fuente oficial</a:t>
            </a:r>
          </a:p>
        </p:txBody>
      </p:sp>
      <p:cxnSp>
        <p:nvCxnSpPr>
          <p:cNvPr id="18" name="Filete 18"/>
          <p:cNvCxnSpPr/>
          <p:nvPr/>
        </p:nvCxnSpPr>
        <p:spPr>
          <a:xfrm>
            <a:off x="8138160" y="4672584"/>
            <a:ext cx="350489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9" name="Texto 19"/>
          <p:cNvSpPr txBox="1"/>
          <p:nvPr/>
        </p:nvSpPr>
        <p:spPr>
          <a:xfrm>
            <a:off x="8138160" y="4745736"/>
            <a:ext cx="3502152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Estado de verificación</a:t>
            </a:r>
          </a:p>
        </p:txBody>
      </p:sp>
      <p:cxnSp>
        <p:nvCxnSpPr>
          <p:cNvPr id="20" name="Filete 20"/>
          <p:cNvCxnSpPr/>
          <p:nvPr/>
        </p:nvCxnSpPr>
        <p:spPr>
          <a:xfrm>
            <a:off x="8138160" y="5056632"/>
            <a:ext cx="350489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1" name="Texto 21"/>
          <p:cNvSpPr txBox="1"/>
          <p:nvPr/>
        </p:nvSpPr>
        <p:spPr>
          <a:xfrm>
            <a:off x="8138160" y="5394960"/>
            <a:ext cx="3502152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 i="0" dirty="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  <a:hlinkClick r:id="rId3"/>
              </a:rPr>
              <a:t>github.com/rgabrieldiaz/rastro</a:t>
            </a:r>
          </a:p>
        </p:txBody>
      </p:sp>
      <p:sp>
        <p:nvSpPr>
          <p:cNvPr id="22" name="Etiqueta 22"/>
          <p:cNvSpPr txBox="1"/>
          <p:nvPr/>
        </p:nvSpPr>
        <p:spPr>
          <a:xfrm>
            <a:off x="8138160" y="5715000"/>
            <a:ext cx="350215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DEMO · DATOS DE CABA VÍA OPENARG · CASOS ANONIMIZADOS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PUERTA HUMANA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Puerta humana y copiloto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08 / 11</a:t>
            </a:r>
          </a:p>
        </p:txBody>
      </p:sp>
      <p:pic>
        <p:nvPicPr>
          <p:cNvPr id="9" name="Captura 9" descr="Puerta humana de la demo: cada bandera con botones aprobar, descartar o pendiente"/>
          <p:cNvPicPr>
            <a:picLocks noChangeAspect="1"/>
          </p:cNvPicPr>
          <p:nvPr/>
        </p:nvPicPr>
        <p:blipFill>
          <a:blip r:embed="rId4"/>
          <a:srcRect l="0" t="0" r="0" b="34400"/>
          <a:stretch>
            <a:fillRect/>
          </a:stretch>
        </p:blipFill>
        <p:spPr>
          <a:xfrm>
            <a:off x="548640" y="1828800"/>
            <a:ext cx="6035040" cy="3931920"/>
          </a:xfrm>
          <a:prstGeom prst="rect">
            <a:avLst/>
          </a:prstGeom>
          <a:ln w="9525">
            <a:solidFill>
              <a:srgbClr val="B9B3A6"/>
            </a:solidFill>
          </a:ln>
        </p:spPr>
      </p:pic>
      <p:sp>
        <p:nvSpPr>
          <p:cNvPr id="10" name="Texto 10"/>
          <p:cNvSpPr txBox="1"/>
          <p:nvPr/>
        </p:nvSpPr>
        <p:spPr>
          <a:xfrm>
            <a:off x="6995160" y="1828800"/>
            <a:ext cx="4645152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0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Nada se publica sin verificación humana.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6995160" y="3063240"/>
            <a:ext cx="4645152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Cada ficha sale con derecho de réplica.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6995160" y="4069080"/>
            <a:ext cx="464789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3" name="Texto 13"/>
          <p:cNvSpPr txBox="1"/>
          <p:nvPr/>
        </p:nvSpPr>
        <p:spPr>
          <a:xfrm>
            <a:off x="6995160" y="4206240"/>
            <a:ext cx="4645152" cy="1554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Por cada indicio, el periodista aprueba, descarta o lo deja pendiente, con una nota. Sin aprobación, el copiloto se bloquea; con aprobación, redacta la ficha y la solicitud de información.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INTEGRIDAD Y RIESGOS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Indicios, no acusaciones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09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1920240"/>
            <a:ext cx="53583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0" name="Etiqueta 10"/>
          <p:cNvSpPr txBox="1"/>
          <p:nvPr/>
        </p:nvSpPr>
        <p:spPr>
          <a:xfrm>
            <a:off x="548640" y="202996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BANDERAS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548640" y="2304288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Son indicios con evidencia y fuente, </a:t>
            </a:r>
            <a:r>
              <a:rPr lang="es-MX" sz="18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nunca acusaciones.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548640" y="2944368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3" name="Etiqueta 13"/>
          <p:cNvSpPr txBox="1"/>
          <p:nvPr/>
        </p:nvSpPr>
        <p:spPr>
          <a:xfrm>
            <a:off x="548640" y="3054096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REGLAS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548640" y="3328416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Públicas. Cualquiera puede ver por qué se encendió una bandera.</a:t>
            </a:r>
          </a:p>
        </p:txBody>
      </p:sp>
      <p:cxnSp>
        <p:nvCxnSpPr>
          <p:cNvPr id="15" name="Filete 15"/>
          <p:cNvCxnSpPr/>
          <p:nvPr/>
        </p:nvCxnSpPr>
        <p:spPr>
          <a:xfrm>
            <a:off x="548640" y="3968496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6" name="Etiqueta 16"/>
          <p:cNvSpPr txBox="1"/>
          <p:nvPr/>
        </p:nvSpPr>
        <p:spPr>
          <a:xfrm>
            <a:off x="548640" y="4078224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EMPRESAS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548640" y="4352544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Anonimizadas en las demos.</a:t>
            </a:r>
          </a:p>
        </p:txBody>
      </p:sp>
      <p:cxnSp>
        <p:nvCxnSpPr>
          <p:cNvPr id="18" name="Filete 18"/>
          <p:cNvCxnSpPr/>
          <p:nvPr/>
        </p:nvCxnSpPr>
        <p:spPr>
          <a:xfrm>
            <a:off x="548640" y="4992624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9" name="Etiqueta 19"/>
          <p:cNvSpPr txBox="1"/>
          <p:nvPr/>
        </p:nvSpPr>
        <p:spPr>
          <a:xfrm>
            <a:off x="548640" y="5102352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PERSONAS FÍSICAS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548640" y="5376672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Sus datos se ocultan.</a:t>
            </a:r>
          </a:p>
        </p:txBody>
      </p:sp>
      <p:cxnSp>
        <p:nvCxnSpPr>
          <p:cNvPr id="21" name="Filete 21"/>
          <p:cNvCxnSpPr/>
          <p:nvPr/>
        </p:nvCxnSpPr>
        <p:spPr>
          <a:xfrm>
            <a:off x="548640" y="6016752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cxnSp>
        <p:nvCxnSpPr>
          <p:cNvPr id="22" name="Filete 22"/>
          <p:cNvCxnSpPr/>
          <p:nvPr/>
        </p:nvCxnSpPr>
        <p:spPr>
          <a:xfrm>
            <a:off x="6281928" y="1920240"/>
            <a:ext cx="53583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23" name="Etiqueta 23"/>
          <p:cNvSpPr txBox="1"/>
          <p:nvPr/>
        </p:nvSpPr>
        <p:spPr>
          <a:xfrm>
            <a:off x="6281928" y="2029968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FUENTES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6281928" y="2304288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Contratos solo de fuentes oficiales. Lo que sube el público queda «sin verificar».</a:t>
            </a:r>
          </a:p>
        </p:txBody>
      </p:sp>
      <p:cxnSp>
        <p:nvCxnSpPr>
          <p:cNvPr id="25" name="Filete 25"/>
          <p:cNvCxnSpPr/>
          <p:nvPr/>
        </p:nvCxnSpPr>
        <p:spPr>
          <a:xfrm>
            <a:off x="6281928" y="2944368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6" name="Etiqueta 26"/>
          <p:cNvSpPr txBox="1"/>
          <p:nvPr/>
        </p:nvSpPr>
        <p:spPr>
          <a:xfrm>
            <a:off x="6281928" y="3054096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REGISTRO</a:t>
            </a:r>
          </a:p>
        </p:txBody>
      </p:sp>
      <p:sp>
        <p:nvSpPr>
          <p:cNvPr id="27" name="Texto 27"/>
          <p:cNvSpPr txBox="1"/>
          <p:nvPr/>
        </p:nvSpPr>
        <p:spPr>
          <a:xfrm>
            <a:off x="6281928" y="3328416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Queda constancia de quién aprobó cada hallazgo.</a:t>
            </a:r>
          </a:p>
        </p:txBody>
      </p:sp>
      <p:cxnSp>
        <p:nvCxnSpPr>
          <p:cNvPr id="28" name="Filete 28"/>
          <p:cNvCxnSpPr/>
          <p:nvPr/>
        </p:nvCxnSpPr>
        <p:spPr>
          <a:xfrm>
            <a:off x="6281928" y="3968496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9" name="Etiqueta 29"/>
          <p:cNvSpPr txBox="1"/>
          <p:nvPr/>
        </p:nvSpPr>
        <p:spPr>
          <a:xfrm>
            <a:off x="6281928" y="4078224"/>
            <a:ext cx="53583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FICHAS</a:t>
            </a:r>
          </a:p>
        </p:txBody>
      </p:sp>
      <p:sp>
        <p:nvSpPr>
          <p:cNvPr id="30" name="Texto 30"/>
          <p:cNvSpPr txBox="1"/>
          <p:nvPr/>
        </p:nvSpPr>
        <p:spPr>
          <a:xfrm>
            <a:off x="6281928" y="4352544"/>
            <a:ext cx="5358384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Las fichas narrativas se escriben solo después de la verificación.</a:t>
            </a:r>
          </a:p>
        </p:txBody>
      </p:sp>
      <p:cxnSp>
        <p:nvCxnSpPr>
          <p:cNvPr id="31" name="Filete 31"/>
          <p:cNvCxnSpPr/>
          <p:nvPr/>
        </p:nvCxnSpPr>
        <p:spPr>
          <a:xfrm>
            <a:off x="6281928" y="4992624"/>
            <a:ext cx="5358384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SOSTENIBILIDAD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Abierto, gratuito y de código abierto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10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1920240"/>
            <a:ext cx="3454298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0" name="Etiqueta 10"/>
          <p:cNvSpPr txBox="1"/>
          <p:nvPr/>
        </p:nvSpPr>
        <p:spPr>
          <a:xfrm>
            <a:off x="548640" y="2057400"/>
            <a:ext cx="3454298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NIVEL 1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548640" y="237744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Abierto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548640" y="2880360"/>
            <a:ext cx="3454298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Cualquier persona consulta y ve los indicios con su evidencia.</a:t>
            </a:r>
          </a:p>
        </p:txBody>
      </p:sp>
      <p:cxnSp>
        <p:nvCxnSpPr>
          <p:cNvPr id="13" name="Filete 13"/>
          <p:cNvCxnSpPr/>
          <p:nvPr/>
        </p:nvCxnSpPr>
        <p:spPr>
          <a:xfrm>
            <a:off x="4368698" y="1920240"/>
            <a:ext cx="3454298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4" name="Etiqueta 14"/>
          <p:cNvSpPr txBox="1"/>
          <p:nvPr/>
        </p:nvSpPr>
        <p:spPr>
          <a:xfrm>
            <a:off x="4368698" y="2057400"/>
            <a:ext cx="3454298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NIVEL 2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4368698" y="237744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Verificación</a:t>
            </a:r>
          </a:p>
        </p:txBody>
      </p:sp>
      <p:sp>
        <p:nvSpPr>
          <p:cNvPr id="16" name="Texto 16"/>
          <p:cNvSpPr txBox="1"/>
          <p:nvPr/>
        </p:nvSpPr>
        <p:spPr>
          <a:xfrm>
            <a:off x="4368698" y="2880360"/>
            <a:ext cx="3454298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Periodistas, OSC y comunidad acreditada aprueban hallazgos y generan fichas.</a:t>
            </a:r>
          </a:p>
        </p:txBody>
      </p:sp>
      <p:cxnSp>
        <p:nvCxnSpPr>
          <p:cNvPr id="17" name="Filete 17"/>
          <p:cNvCxnSpPr/>
          <p:nvPr/>
        </p:nvCxnSpPr>
        <p:spPr>
          <a:xfrm>
            <a:off x="8188757" y="1920240"/>
            <a:ext cx="3454298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8" name="Etiqueta 18"/>
          <p:cNvSpPr txBox="1"/>
          <p:nvPr/>
        </p:nvSpPr>
        <p:spPr>
          <a:xfrm>
            <a:off x="8188757" y="2057400"/>
            <a:ext cx="3454298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NIVEL 3</a:t>
            </a:r>
          </a:p>
        </p:txBody>
      </p:sp>
      <p:sp>
        <p:nvSpPr>
          <p:cNvPr id="19" name="Texto 19"/>
          <p:cNvSpPr txBox="1"/>
          <p:nvPr/>
        </p:nvSpPr>
        <p:spPr>
          <a:xfrm>
            <a:off x="8188757" y="2377440"/>
            <a:ext cx="3454298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Institucional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8188757" y="2880360"/>
            <a:ext cx="3454298" cy="1097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Monitoreo, alertas y API, de pago.</a:t>
            </a:r>
          </a:p>
        </p:txBody>
      </p:sp>
      <p:cxnSp>
        <p:nvCxnSpPr>
          <p:cNvPr id="21" name="Filete 21"/>
          <p:cNvCxnSpPr/>
          <p:nvPr/>
        </p:nvCxnSpPr>
        <p:spPr>
          <a:xfrm>
            <a:off x="548640" y="411480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2" name="Etiqueta 22"/>
          <p:cNvSpPr txBox="1"/>
          <p:nvPr/>
        </p:nvSpPr>
        <p:spPr>
          <a:xfrm>
            <a:off x="548640" y="425196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QUIÉN PAGA</a:t>
            </a:r>
          </a:p>
        </p:txBody>
      </p:sp>
      <p:sp>
        <p:nvSpPr>
          <p:cNvPr id="23" name="Texto 23"/>
          <p:cNvSpPr txBox="1"/>
          <p:nvPr/>
        </p:nvSpPr>
        <p:spPr>
          <a:xfrm>
            <a:off x="548640" y="4572000"/>
            <a:ext cx="694944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Consultoras de cumplimiento, medios y OSC con equipos de datos, fundaciones y órganos de control. Y membresías «Adopta un municipio».</a:t>
            </a:r>
          </a:p>
        </p:txBody>
      </p:sp>
      <p:cxnSp>
        <p:nvCxnSpPr>
          <p:cNvPr id="24" name="Filete 24"/>
          <p:cNvCxnSpPr/>
          <p:nvPr/>
        </p:nvCxnSpPr>
        <p:spPr>
          <a:xfrm>
            <a:off x="7726680" y="4251960"/>
            <a:ext cx="0" cy="169164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25" name="Etiqueta 25"/>
          <p:cNvSpPr txBox="1"/>
          <p:nvPr/>
        </p:nvSpPr>
        <p:spPr>
          <a:xfrm>
            <a:off x="8046720" y="4251960"/>
            <a:ext cx="359359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NUESTRA REGLA</a:t>
            </a:r>
          </a:p>
        </p:txBody>
      </p:sp>
      <p:sp>
        <p:nvSpPr>
          <p:cNvPr id="26" name="Texto 26"/>
          <p:cNvSpPr txBox="1"/>
          <p:nvPr/>
        </p:nvSpPr>
        <p:spPr>
          <a:xfrm>
            <a:off x="8046720" y="4572000"/>
            <a:ext cx="3593592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900" b="1" i="0" dirty="0">
                <a:solidFill>
                  <a:srgbClr val="C8230C"/>
                </a:solidFill>
                <a:latin typeface="Piazzolla" pitchFamily="18" charset="0"/>
                <a:ea typeface="Piazzolla"/>
                <a:cs typeface="Piazzolla"/>
              </a:rPr>
              <a:t>No aceptamos dinero de municipios monitoreados ni de partidos.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CÓMO CRECE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Cómo crece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11 / 11</a:t>
            </a:r>
          </a:p>
        </p:txBody>
      </p:sp>
      <p:cxnSp>
        <p:nvCxnSpPr>
          <p:cNvPr id="9" name="Filete 9"/>
          <p:cNvCxnSpPr/>
          <p:nvPr/>
        </p:nvCxnSpPr>
        <p:spPr>
          <a:xfrm>
            <a:off x="548640" y="1920240"/>
            <a:ext cx="2499284" cy="0"/>
          </a:xfrm>
          <a:prstGeom prst="line">
            <a:avLst/>
          </a:prstGeom>
          <a:ln w="38100" cap="flat">
            <a:solidFill>
              <a:srgbClr val="C8230C"/>
            </a:solidFill>
          </a:ln>
        </p:spPr>
      </p:cxnSp>
      <p:sp>
        <p:nvSpPr>
          <p:cNvPr id="10" name="Etiqueta 10"/>
          <p:cNvSpPr txBox="1"/>
          <p:nvPr/>
        </p:nvSpPr>
        <p:spPr>
          <a:xfrm>
            <a:off x="548640" y="2075688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HOY</a:t>
            </a:r>
          </a:p>
        </p:txBody>
      </p:sp>
      <p:sp>
        <p:nvSpPr>
          <p:cNvPr id="11" name="Texto 11"/>
          <p:cNvSpPr txBox="1"/>
          <p:nvPr/>
        </p:nvSpPr>
        <p:spPr>
          <a:xfrm>
            <a:off x="548640" y="2468880"/>
            <a:ext cx="2499284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Prototipo con datos de CABA y puerta humana.</a:t>
            </a:r>
          </a:p>
        </p:txBody>
      </p:sp>
      <p:cxnSp>
        <p:nvCxnSpPr>
          <p:cNvPr id="12" name="Filete 12"/>
          <p:cNvCxnSpPr/>
          <p:nvPr/>
        </p:nvCxnSpPr>
        <p:spPr>
          <a:xfrm>
            <a:off x="3413684" y="192024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3" name="Etiqueta 13"/>
          <p:cNvSpPr txBox="1"/>
          <p:nvPr/>
        </p:nvSpPr>
        <p:spPr>
          <a:xfrm>
            <a:off x="3413684" y="2075688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 i="0" dirty="0" spc="15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30 DÍAS</a:t>
            </a:r>
          </a:p>
        </p:txBody>
      </p:sp>
      <p:sp>
        <p:nvSpPr>
          <p:cNvPr id="14" name="Texto 14"/>
          <p:cNvSpPr txBox="1"/>
          <p:nvPr/>
        </p:nvSpPr>
        <p:spPr>
          <a:xfrm>
            <a:off x="3413684" y="2468880"/>
            <a:ext cx="2499284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Medir el lector contra los 22 contratos revisados a mano.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Un municipio piloto.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Asesoría legal.</a:t>
            </a:r>
          </a:p>
        </p:txBody>
      </p:sp>
      <p:cxnSp>
        <p:nvCxnSpPr>
          <p:cNvPr id="15" name="Filete 15"/>
          <p:cNvCxnSpPr/>
          <p:nvPr/>
        </p:nvCxnSpPr>
        <p:spPr>
          <a:xfrm>
            <a:off x="6278728" y="192024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6" name="Etiqueta 16"/>
          <p:cNvSpPr txBox="1"/>
          <p:nvPr/>
        </p:nvSpPr>
        <p:spPr>
          <a:xfrm>
            <a:off x="6278728" y="2075688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 i="0" dirty="0" spc="15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3 MESES</a:t>
            </a:r>
          </a:p>
        </p:txBody>
      </p:sp>
      <p:sp>
        <p:nvSpPr>
          <p:cNvPr id="17" name="Texto 17"/>
          <p:cNvSpPr txBox="1"/>
          <p:nvPr/>
        </p:nvSpPr>
        <p:spPr>
          <a:xfrm>
            <a:off x="6278728" y="2468880"/>
            <a:ext cx="2499284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De 3 a 5 municipios de Hidalgo, vía la PNT.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Medios aliados como verificadores.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Primeras fichas publicadas con réplica.</a:t>
            </a:r>
          </a:p>
        </p:txBody>
      </p:sp>
      <p:cxnSp>
        <p:nvCxnSpPr>
          <p:cNvPr id="18" name="Filete 18"/>
          <p:cNvCxnSpPr/>
          <p:nvPr/>
        </p:nvCxnSpPr>
        <p:spPr>
          <a:xfrm>
            <a:off x="9143771" y="1920240"/>
            <a:ext cx="2499284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9" name="Etiqueta 19"/>
          <p:cNvSpPr txBox="1"/>
          <p:nvPr/>
        </p:nvSpPr>
        <p:spPr>
          <a:xfrm>
            <a:off x="9143771" y="2075688"/>
            <a:ext cx="2499284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300" b="1" i="0" dirty="0" spc="150">
                <a:solidFill>
                  <a:srgbClr val="141615"/>
                </a:solidFill>
                <a:latin typeface="JetBrains Mono" pitchFamily="49" charset="0"/>
                <a:ea typeface="JetBrains Mono"/>
                <a:cs typeface="JetBrains Mono"/>
              </a:rPr>
              <a:t>6 A 12 MESES</a:t>
            </a:r>
          </a:p>
        </p:txBody>
      </p:sp>
      <p:sp>
        <p:nvSpPr>
          <p:cNvPr id="20" name="Texto 20"/>
          <p:cNvSpPr txBox="1"/>
          <p:nvPr/>
        </p:nvSpPr>
        <p:spPr>
          <a:xfrm>
            <a:off x="9143771" y="2468880"/>
            <a:ext cx="2499284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Más estados.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s-MX" sz="16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Alertas y API.</a:t>
            </a:r>
          </a:p>
        </p:txBody>
      </p:sp>
      <p:cxnSp>
        <p:nvCxnSpPr>
          <p:cNvPr id="21" name="Filete 21"/>
          <p:cNvCxnSpPr/>
          <p:nvPr/>
        </p:nvCxnSpPr>
        <p:spPr>
          <a:xfrm>
            <a:off x="548640" y="452628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22" name="Filete 22"/>
          <p:cNvCxnSpPr/>
          <p:nvPr/>
        </p:nvCxnSpPr>
        <p:spPr>
          <a:xfrm>
            <a:off x="548640" y="458571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23" name="Texto 23"/>
          <p:cNvSpPr txBox="1"/>
          <p:nvPr/>
        </p:nvSpPr>
        <p:spPr>
          <a:xfrm>
            <a:off x="548640" y="4846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i="0" dirty="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  <a:hlinkClick r:id="rId3"/>
              </a:rPr>
              <a:t>github.com/rgabrieldiaz/rastro</a:t>
            </a:r>
          </a:p>
        </p:txBody>
      </p:sp>
      <p:sp>
        <p:nvSpPr>
          <p:cNvPr id="24" name="Texto 24"/>
          <p:cNvSpPr txBox="1"/>
          <p:nvPr/>
        </p:nvSpPr>
        <p:spPr>
          <a:xfrm>
            <a:off x="548640" y="54406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0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Giovanny Flores · Gabo · Media Party Buenos Aires 2026</a:t>
            </a:r>
          </a:p>
        </p:txBody>
      </p:sp>
      <p:sp>
        <p:nvSpPr>
          <p:cNvPr id="25" name="Texto 25"/>
          <p:cNvSpPr txBox="1"/>
          <p:nvPr/>
        </p:nvSpPr>
        <p:spPr>
          <a:xfrm>
            <a:off x="7985455" y="48006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Gracias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ANEXO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Preguntas que esperamos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A1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8899855" y="1051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1 DE 2</a:t>
            </a:r>
          </a:p>
        </p:txBody>
      </p:sp>
      <p:cxnSp>
        <p:nvCxnSpPr>
          <p:cNvPr id="10" name="Filete 10"/>
          <p:cNvCxnSpPr/>
          <p:nvPr/>
        </p:nvCxnSpPr>
        <p:spPr>
          <a:xfrm>
            <a:off x="548640" y="1874520"/>
            <a:ext cx="11094415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1" name="Texto 11"/>
          <p:cNvSpPr txBox="1"/>
          <p:nvPr/>
        </p:nvSpPr>
        <p:spPr>
          <a:xfrm>
            <a:off x="548640" y="20299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¿Y si una bandera es falsa?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548640" y="24688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Es un indicio, no una acusación: pasa por la puerta humana, se puede descartar con un motivo y nada se publica sin verificación ni réplica.</a:t>
            </a:r>
          </a:p>
        </p:txBody>
      </p:sp>
      <p:cxnSp>
        <p:nvCxnSpPr>
          <p:cNvPr id="13" name="Filete 13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4" name="Texto 14"/>
          <p:cNvSpPr txBox="1"/>
          <p:nvPr/>
        </p:nvSpPr>
        <p:spPr>
          <a:xfrm>
            <a:off x="548640" y="3401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¿Por qué reglas y no IA?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548640" y="3840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Porque una regla se explica y se audita: cualquiera ve por qué se encendió una bandera. La IA solo lee y redacta.</a:t>
            </a:r>
          </a:p>
        </p:txBody>
      </p:sp>
      <p:cxnSp>
        <p:nvCxnSpPr>
          <p:cNvPr id="16" name="Filete 16"/>
          <p:cNvCxnSpPr/>
          <p:nvPr/>
        </p:nvCxnSpPr>
        <p:spPr>
          <a:xfrm>
            <a:off x="548640" y="46177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7" name="Texto 17"/>
          <p:cNvSpPr txBox="1"/>
          <p:nvPr/>
        </p:nvSpPr>
        <p:spPr>
          <a:xfrm>
            <a:off x="548640" y="47731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¿Qué tan confiable es la lectura de PDF?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La vamos a medir contra los 22 contratos que revisé a mano. Cada dato guarda su archivo y su página para revisarlo.</a:t>
            </a:r>
          </a:p>
        </p:txBody>
      </p:sp>
      <p:cxnSp>
        <p:nvCxnSpPr>
          <p:cNvPr id="19" name="Filete 19"/>
          <p:cNvCxnSpPr/>
          <p:nvPr/>
        </p:nvCxnSpPr>
        <p:spPr>
          <a:xfrm>
            <a:off x="548640" y="59893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7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zal 2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C8230C"/>
                </a:solidFill>
                <a:latin typeface="JetBrains Mono" pitchFamily="49" charset="0"/>
                <a:ea typeface="JetBrains Mono"/>
                <a:cs typeface="JetBrains Mono"/>
              </a:rPr>
              <a:t>RASTRO</a:t>
            </a:r>
            <a:r>
              <a:rPr lang="es-MX" sz="1100" b="0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   ANEXO</a:t>
            </a:r>
          </a:p>
        </p:txBody>
      </p:sp>
      <p:cxnSp>
        <p:nvCxnSpPr>
          <p:cNvPr id="3" name="Filete 3"/>
          <p:cNvCxnSpPr/>
          <p:nvPr/>
        </p:nvCxnSpPr>
        <p:spPr>
          <a:xfrm>
            <a:off x="548640" y="731520"/>
            <a:ext cx="11094415" cy="0"/>
          </a:xfrm>
          <a:prstGeom prst="line">
            <a:avLst/>
          </a:prstGeom>
          <a:ln w="31750" cap="flat">
            <a:solidFill>
              <a:srgbClr val="141615"/>
            </a:solidFill>
          </a:ln>
        </p:spPr>
      </p:cxnSp>
      <p:cxnSp>
        <p:nvCxnSpPr>
          <p:cNvPr id="4" name="Filete 4"/>
          <p:cNvCxnSpPr/>
          <p:nvPr/>
        </p:nvCxnSpPr>
        <p:spPr>
          <a:xfrm>
            <a:off x="548640" y="790956"/>
            <a:ext cx="11094415" cy="0"/>
          </a:xfrm>
          <a:prstGeom prst="line">
            <a:avLst/>
          </a:prstGeom>
          <a:ln w="9525" cap="flat">
            <a:solidFill>
              <a:srgbClr val="141615"/>
            </a:solidFill>
          </a:ln>
        </p:spPr>
      </p:cxnSp>
      <p:sp>
        <p:nvSpPr>
          <p:cNvPr id="5" name="Titulo 5"/>
          <p:cNvSpPr txBox="1"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4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Preguntas que esperamos</a:t>
            </a:r>
          </a:p>
        </p:txBody>
      </p:sp>
      <p:cxnSp>
        <p:nvCxnSpPr>
          <p:cNvPr id="6" name="Filete 6"/>
          <p:cNvCxnSpPr/>
          <p:nvPr/>
        </p:nvCxnSpPr>
        <p:spPr>
          <a:xfrm>
            <a:off x="548640" y="6327648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7" name="Pie 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Giovanny Flores · Gabo · Media Party Buenos Aires 2026</a:t>
            </a:r>
          </a:p>
        </p:txBody>
      </p:sp>
      <p:sp>
        <p:nvSpPr>
          <p:cNvPr id="8" name="Numero 8"/>
          <p:cNvSpPr txBox="1"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00" b="0" i="0" dirty="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A2</a:t>
            </a:r>
          </a:p>
        </p:txBody>
      </p:sp>
      <p:sp>
        <p:nvSpPr>
          <p:cNvPr id="9" name="Texto 9"/>
          <p:cNvSpPr txBox="1"/>
          <p:nvPr/>
        </p:nvSpPr>
        <p:spPr>
          <a:xfrm>
            <a:off x="8899855" y="1051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100" b="1" i="0" dirty="0" spc="150">
                <a:solidFill>
                  <a:srgbClr val="6B6A64"/>
                </a:solidFill>
                <a:latin typeface="JetBrains Mono" pitchFamily="49" charset="0"/>
                <a:ea typeface="JetBrains Mono"/>
                <a:cs typeface="JetBrains Mono"/>
              </a:rPr>
              <a:t>2 DE 2</a:t>
            </a:r>
          </a:p>
        </p:txBody>
      </p:sp>
      <p:cxnSp>
        <p:nvCxnSpPr>
          <p:cNvPr id="10" name="Filete 10"/>
          <p:cNvCxnSpPr/>
          <p:nvPr/>
        </p:nvCxnSpPr>
        <p:spPr>
          <a:xfrm>
            <a:off x="548640" y="1874520"/>
            <a:ext cx="11094415" cy="0"/>
          </a:xfrm>
          <a:prstGeom prst="line">
            <a:avLst/>
          </a:prstGeom>
          <a:ln w="12700" cap="flat">
            <a:solidFill>
              <a:srgbClr val="141615"/>
            </a:solidFill>
          </a:ln>
        </p:spPr>
      </p:cxnSp>
      <p:sp>
        <p:nvSpPr>
          <p:cNvPr id="11" name="Texto 11"/>
          <p:cNvSpPr txBox="1"/>
          <p:nvPr/>
        </p:nvSpPr>
        <p:spPr>
          <a:xfrm>
            <a:off x="548640" y="20299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¿Qué construyeron hoy?</a:t>
            </a:r>
          </a:p>
        </p:txBody>
      </p:sp>
      <p:sp>
        <p:nvSpPr>
          <p:cNvPr id="12" name="Texto 12"/>
          <p:cNvSpPr txBox="1"/>
          <p:nvPr/>
        </p:nvSpPr>
        <p:spPr>
          <a:xfrm>
            <a:off x="548640" y="24688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En vivo: el radar de indicios con puerta humana, un copiloto que se bloquea sin verificación y el modo cívico, con datos de compras de CABA vía OpenARG. Los casos son ilustrativos y anonimizados, y todavía no lee PDF.</a:t>
            </a:r>
          </a:p>
        </p:txBody>
      </p:sp>
      <p:cxnSp>
        <p:nvCxnSpPr>
          <p:cNvPr id="13" name="Filete 13"/>
          <p:cNvCxnSpPr/>
          <p:nvPr/>
        </p:nvCxnSpPr>
        <p:spPr>
          <a:xfrm>
            <a:off x="548640" y="32461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4" name="Texto 14"/>
          <p:cNvSpPr txBox="1"/>
          <p:nvPr/>
        </p:nvSpPr>
        <p:spPr>
          <a:xfrm>
            <a:off x="548640" y="34015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¿Cómo evitan el uso malicioso?</a:t>
            </a:r>
          </a:p>
        </p:txBody>
      </p:sp>
      <p:sp>
        <p:nvSpPr>
          <p:cNvPr id="15" name="Texto 15"/>
          <p:cNvSpPr txBox="1"/>
          <p:nvPr/>
        </p:nvSpPr>
        <p:spPr>
          <a:xfrm>
            <a:off x="548640" y="38404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Solo contratos de fuentes oficiales; lo que sube el público queda «sin verificar». Reglas públicas, registro de quién aprobó y nada sale sin verificación.</a:t>
            </a:r>
          </a:p>
        </p:txBody>
      </p:sp>
      <p:cxnSp>
        <p:nvCxnSpPr>
          <p:cNvPr id="16" name="Filete 16"/>
          <p:cNvCxnSpPr/>
          <p:nvPr/>
        </p:nvCxnSpPr>
        <p:spPr>
          <a:xfrm>
            <a:off x="548640" y="46177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  <p:sp>
        <p:nvSpPr>
          <p:cNvPr id="17" name="Texto 17"/>
          <p:cNvSpPr txBox="1"/>
          <p:nvPr/>
        </p:nvSpPr>
        <p:spPr>
          <a:xfrm>
            <a:off x="548640" y="4773168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i="0" dirty="0">
                <a:solidFill>
                  <a:srgbClr val="141615"/>
                </a:solidFill>
                <a:latin typeface="Piazzolla" pitchFamily="18" charset="0"/>
                <a:ea typeface="Piazzolla"/>
                <a:cs typeface="Piazzolla"/>
              </a:rPr>
              <a:t>¿Quién paga?</a:t>
            </a:r>
          </a:p>
        </p:txBody>
      </p:sp>
      <p:sp>
        <p:nvSpPr>
          <p:cNvPr id="18" name="Texto 18"/>
          <p:cNvSpPr txBox="1"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0" i="0" dirty="0">
                <a:solidFill>
                  <a:srgbClr val="4A4A46"/>
                </a:solidFill>
                <a:latin typeface="Piazzolla" pitchFamily="18" charset="0"/>
                <a:ea typeface="Piazzolla"/>
                <a:cs typeface="Piazzolla"/>
              </a:rPr>
              <a:t>Consultoras de cumplimiento, medios y OSC con equipos de datos, fundaciones y órganos de control. Nunca municipios monitoreados ni partidos.</a:t>
            </a:r>
          </a:p>
        </p:txBody>
      </p:sp>
      <p:cxnSp>
        <p:nvCxnSpPr>
          <p:cNvPr id="19" name="Filete 19"/>
          <p:cNvCxnSpPr/>
          <p:nvPr/>
        </p:nvCxnSpPr>
        <p:spPr>
          <a:xfrm>
            <a:off x="548640" y="5989320"/>
            <a:ext cx="11094415" cy="0"/>
          </a:xfrm>
          <a:prstGeom prst="line">
            <a:avLst/>
          </a:prstGeom>
          <a:ln w="9525" cap="flat">
            <a:solidFill>
              <a:srgbClr val="B9B3A6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Imprenta">
  <a:themeElements>
    <a:clrScheme name="Imprenta">
      <a:dk1>
        <a:srgbClr val="141615"/>
      </a:dk1>
      <a:lt1>
        <a:srgbClr val="ECE7DE"/>
      </a:lt1>
      <a:dk2>
        <a:srgbClr val="4A4A46"/>
      </a:dk2>
      <a:lt2>
        <a:srgbClr val="E3DDD1"/>
      </a:lt2>
      <a:accent1>
        <a:srgbClr val="C8230C"/>
      </a:accent1>
      <a:accent2>
        <a:srgbClr val="4A4A46"/>
      </a:accent2>
      <a:accent3>
        <a:srgbClr val="6B6A64"/>
      </a:accent3>
      <a:accent4>
        <a:srgbClr val="B9B3A6"/>
      </a:accent4>
      <a:accent5>
        <a:srgbClr val="E3DDD1"/>
      </a:accent5>
      <a:accent6>
        <a:srgbClr val="141615"/>
      </a:accent6>
      <a:hlink>
        <a:srgbClr val="C8230C"/>
      </a:hlink>
      <a:folHlink>
        <a:srgbClr val="C8230C"/>
      </a:folHlink>
    </a:clrScheme>
    <a:fontScheme name="Imprenta">
      <a:majorFont>
        <a:latin typeface="Piazzolla"/>
        <a:ea typeface=""/>
        <a:cs typeface=""/>
      </a:majorFont>
      <a:minorFont>
        <a:latin typeface="Piazzolla"/>
        <a:ea typeface=""/>
        <a:cs typeface=""/>
      </a:minorFont>
    </a:fontScheme>
    <a:fmtScheme name="Imprent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mprenta">
  <a:themeElements>
    <a:clrScheme name="Imprenta">
      <a:dk1>
        <a:srgbClr val="141615"/>
      </a:dk1>
      <a:lt1>
        <a:srgbClr val="ECE7DE"/>
      </a:lt1>
      <a:dk2>
        <a:srgbClr val="4A4A46"/>
      </a:dk2>
      <a:lt2>
        <a:srgbClr val="E3DDD1"/>
      </a:lt2>
      <a:accent1>
        <a:srgbClr val="C8230C"/>
      </a:accent1>
      <a:accent2>
        <a:srgbClr val="4A4A46"/>
      </a:accent2>
      <a:accent3>
        <a:srgbClr val="6B6A64"/>
      </a:accent3>
      <a:accent4>
        <a:srgbClr val="B9B3A6"/>
      </a:accent4>
      <a:accent5>
        <a:srgbClr val="E3DDD1"/>
      </a:accent5>
      <a:accent6>
        <a:srgbClr val="141615"/>
      </a:accent6>
      <a:hlink>
        <a:srgbClr val="C8230C"/>
      </a:hlink>
      <a:folHlink>
        <a:srgbClr val="C8230C"/>
      </a:folHlink>
    </a:clrScheme>
    <a:fontScheme name="Imprenta">
      <a:majorFont>
        <a:latin typeface="Piazzolla"/>
        <a:ea typeface=""/>
        <a:cs typeface=""/>
      </a:majorFont>
      <a:minorFont>
        <a:latin typeface="Piazzolla"/>
        <a:ea typeface=""/>
        <a:cs typeface=""/>
      </a:minorFont>
    </a:fontScheme>
    <a:fmtScheme name="Imprent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Rastro gen.py</Application>
  <Slides>13</Slides>
  <Notes>13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Rastro · pitch</dc:title>
  <dc:creator>Equipo Rastro</dc:creator>
  <dc:language>es-MX</dc:language>
  <dcterms:created xsi:type="dcterms:W3CDTF">2026-10-31T18:46:47Z</dcterms:created>
  <dcterms:modified xsi:type="dcterms:W3CDTF">2026-10-31T18:46:47Z</dcterms:modified>
</cp:coreProperties>
</file>